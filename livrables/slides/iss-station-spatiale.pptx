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38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38B6FF"/>
                </a:solidFill>
                <a:latin typeface="Calibri"/>
              </a:rPr>
              <a:t>SCIENCES &amp; 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La Station spatiale internationale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D6E4FF"/>
                </a:solidFill>
                <a:latin typeface="Calibri"/>
              </a:rPr>
              <a:t>Le plus grand objet humain en orbite : 400 km d'altitude,</a:t>
            </a:r>
          </a:p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D6E4FF"/>
                </a:solidFill>
                <a:latin typeface="Calibri"/>
              </a:rPr>
              <a:t>27 600 km/h, habitée en continu depuis novembre 2000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FB4D8"/>
                </a:solidFill>
                <a:latin typeface="Calibri"/>
              </a:rPr>
              <a:t>Sources vérifiées citées dans chaque diapo · NASA · ESA · ASC · CNES · GAO · Wikipédia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38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6FF"/>
                </a:solidFill>
                <a:latin typeface="Calibri"/>
              </a:rPr>
              <a:t>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Qu'est-ce que l'ISS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Un laboratoire scientifique en orbite terrestre basse (~400 km), assemblé module par module dans l'espace.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Exploitée par 5 agences partenaires : NASA (États-Unis), Roscosmos (Russie), ESA (Europe), JAXA (Japon) et ASC (Canada) — soit 15 pays contributeurs.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Construction assemblée entre 1998 et 2011, mais la station évolue en permanence (nouveaux modules, panneaux, expériences).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Sa mission : mener en micropesanteur des expériences impossibles sur Terre (biologie, physique des matériaux, médecine, astronomie).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Elle sert aussi de banc d'essai pour les futures missions longues vers la Lune et Mars.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B4D8"/>
                </a:solidFill>
                <a:latin typeface="Calibri"/>
              </a:rPr>
              <a:t>Sources : ASC « FAQ – Station spatiale internationale » ; Space.com « Everything you need to know about the ISS » ; CNES « Les stations orbitales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38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6FF"/>
                </a:solidFill>
                <a:latin typeface="Calibri"/>
              </a:rPr>
              <a:t>EN UN COUP D'ŒIL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La station en chiffres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697480" cy="1965960"/>
          </a:xfrm>
          <a:prstGeom prst="rect">
            <a:avLst/>
          </a:prstGeom>
          <a:solidFill>
            <a:srgbClr val="173363"/>
          </a:solidFill>
          <a:ln w="15875">
            <a:solidFill>
              <a:srgbClr val="38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96596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≈ 400 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788920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6E4FF"/>
                </a:solidFill>
                <a:latin typeface="Calibri"/>
              </a:rPr>
              <a:t>altitude moyenne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2152" y="1645920"/>
            <a:ext cx="2697480" cy="1965960"/>
          </a:xfrm>
          <a:prstGeom prst="rect">
            <a:avLst/>
          </a:prstGeom>
          <a:solidFill>
            <a:srgbClr val="173363"/>
          </a:solidFill>
          <a:ln w="15875">
            <a:solidFill>
              <a:srgbClr val="38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96596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27 600 km/h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788920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6E4FF"/>
                </a:solidFill>
                <a:latin typeface="Calibri"/>
              </a:rPr>
              <a:t>vitesse orbitale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1645920"/>
            <a:ext cx="2697480" cy="1965960"/>
          </a:xfrm>
          <a:prstGeom prst="rect">
            <a:avLst/>
          </a:prstGeom>
          <a:solidFill>
            <a:srgbClr val="173363"/>
          </a:solidFill>
          <a:ln w="15875">
            <a:solidFill>
              <a:srgbClr val="38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96596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≈ 93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788920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6E4FF"/>
                </a:solidFill>
                <a:latin typeface="Calibri"/>
              </a:rPr>
              <a:t>un tour de la Terre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26296" y="1645920"/>
            <a:ext cx="2697480" cy="1965960"/>
          </a:xfrm>
          <a:prstGeom prst="rect">
            <a:avLst/>
          </a:prstGeom>
          <a:solidFill>
            <a:srgbClr val="173363"/>
          </a:solidFill>
          <a:ln w="15875">
            <a:solidFill>
              <a:srgbClr val="38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196596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15,5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2788920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6E4FF"/>
                </a:solidFill>
                <a:latin typeface="Calibri"/>
              </a:rPr>
              <a:t>orbites par jour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2697480" cy="1965960"/>
          </a:xfrm>
          <a:prstGeom prst="rect">
            <a:avLst/>
          </a:prstGeom>
          <a:solidFill>
            <a:srgbClr val="173363"/>
          </a:solidFill>
          <a:ln w="15875">
            <a:solidFill>
              <a:srgbClr val="38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4251959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5074920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6E4FF"/>
                </a:solidFill>
                <a:latin typeface="Calibri"/>
              </a:rPr>
              <a:t>levers de soleil / jour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2152" y="3931920"/>
            <a:ext cx="2697480" cy="1965960"/>
          </a:xfrm>
          <a:prstGeom prst="rect">
            <a:avLst/>
          </a:prstGeom>
          <a:solidFill>
            <a:srgbClr val="173363"/>
          </a:solidFill>
          <a:ln w="15875">
            <a:solidFill>
              <a:srgbClr val="38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3592" y="4251959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≈ 450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5074920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6E4FF"/>
                </a:solidFill>
                <a:latin typeface="Calibri"/>
              </a:rPr>
              <a:t>masse totale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4224" y="3931920"/>
            <a:ext cx="2697480" cy="1965960"/>
          </a:xfrm>
          <a:prstGeom prst="rect">
            <a:avLst/>
          </a:prstGeom>
          <a:solidFill>
            <a:srgbClr val="173363"/>
          </a:solidFill>
          <a:ln w="15875">
            <a:solidFill>
              <a:srgbClr val="38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251959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109 × 73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5074920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6E4FF"/>
                </a:solidFill>
                <a:latin typeface="Calibri"/>
              </a:rPr>
              <a:t>envergure (truss + panneaux)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26296" y="3931920"/>
            <a:ext cx="2697480" cy="1965960"/>
          </a:xfrm>
          <a:prstGeom prst="rect">
            <a:avLst/>
          </a:prstGeom>
          <a:solidFill>
            <a:srgbClr val="173363"/>
          </a:solidFill>
          <a:ln w="15875">
            <a:solidFill>
              <a:srgbClr val="38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17736" y="4251959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1 005 m³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5074920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6E4FF"/>
                </a:solidFill>
                <a:latin typeface="Calibri"/>
              </a:rPr>
              <a:t>volume pressurisé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B4D8"/>
                </a:solidFill>
                <a:latin typeface="Calibri"/>
              </a:rPr>
              <a:t>Sources : NASA « ISS 20 infographic » (vitesse 28 000 km/h, 16 orbites, 16 levers de soleil) ; Wikipédia « Station spatiale internationale » (450 t, 109 × 73 m, 1 005 m³, 7,67 km/s, période 92,9 min) ; CNES.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38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6FF"/>
                </a:solidFill>
                <a:latin typeface="Calibri"/>
              </a:rPr>
              <a:t>REPÈRES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Chronologie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377440"/>
            <a:ext cx="54864" cy="3566160"/>
          </a:xfrm>
          <a:prstGeom prst="rect">
            <a:avLst/>
          </a:prstGeom>
          <a:solidFill>
            <a:srgbClr val="38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1728216"/>
            <a:ext cx="292608" cy="292608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60020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8B6FF"/>
                </a:solidFill>
                <a:latin typeface="Calibri"/>
              </a:rPr>
              <a:t>20 nov. 1998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600200"/>
            <a:ext cx="7589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D6E4FF"/>
                </a:solidFill>
                <a:latin typeface="Calibri"/>
              </a:rPr>
              <a:t>Lancement de Zarya, premier module de la station (fusée Proton).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60904"/>
            <a:ext cx="292608" cy="292608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53288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8B6FF"/>
                </a:solidFill>
                <a:latin typeface="Calibri"/>
              </a:rPr>
              <a:t>2 nov. 2000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532888"/>
            <a:ext cx="7589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D6E4FF"/>
                </a:solidFill>
                <a:latin typeface="Calibri"/>
              </a:rPr>
              <a:t>Arrivée de l'Expedition 1 (Shepherd, Krikalev, Gidzenko) : début de l'occupation permanente.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93592"/>
            <a:ext cx="292608" cy="292608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465576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8B6FF"/>
                </a:solidFill>
                <a:latin typeface="Calibri"/>
              </a:rPr>
              <a:t>1998 – 2011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465576"/>
            <a:ext cx="7589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D6E4FF"/>
                </a:solidFill>
                <a:latin typeface="Calibri"/>
              </a:rPr>
              <a:t>Assemblage principal : dizaines de modules, truss et panneaux solaires montés en orbite.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526280"/>
            <a:ext cx="292608" cy="292608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398264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8B6FF"/>
                </a:solidFill>
                <a:latin typeface="Calibri"/>
              </a:rPr>
              <a:t>2011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398264"/>
            <a:ext cx="7589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D6E4FF"/>
                </a:solidFill>
                <a:latin typeface="Calibri"/>
              </a:rPr>
              <a:t>Fin de la construction avec le dernier vol de la navette spatiale américaine.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458968"/>
            <a:ext cx="292608" cy="292608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330952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8B6FF"/>
                </a:solidFill>
                <a:latin typeface="Calibri"/>
              </a:rPr>
              <a:t>fin 2030 (prévu)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330952"/>
            <a:ext cx="7589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D6E4FF"/>
                </a:solidFill>
                <a:latin typeface="Calibri"/>
              </a:rPr>
              <a:t>Retrait de service et désorbitation contrôlée (plan NASA actuel).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B4D8"/>
                </a:solidFill>
                <a:latin typeface="Calibri"/>
              </a:rPr>
              <a:t>Sources : Wikipédia « Station spatiale internationale » (Zarya 20/11/1998, occupation depuis le 02/11/2000) ; ASC FAQ ; Space.com ; GAO-26-107805 (désorbitation fin 2030).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38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6FF"/>
                </a:solidFill>
                <a:latin typeface="Calibri"/>
              </a:rPr>
              <a:t>AU QUOTIDIEN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La vie à bord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Équipage permanent typique : 7 astronautes et cosmonautes de plusieurs nationalités.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Mission habituelle : environ 6 mois en orbite (records : Scott Kelly et Mikhaïl Kornienko, 1 an, 2015-2016).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En 24 h : 16 tours de Terre, donc 16 levers et 16 couchers de soleil — un rythme jour/nuit de 90 minutes.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Les journées sont partagées entre expériences scientifiques, entretien de la station et exercice physique (2 h/jour pour contrer la fonte musculaire et osseuse).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Depuis 2000, plus de 280 personnes ont séjourné à bord (bilan BBC, déc. 2025).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B4D8"/>
                </a:solidFill>
                <a:latin typeface="Calibri"/>
              </a:rPr>
              <a:t>Sources : ASC FAQ (équipage 3-6 puis 7, missions ~6 mois, 16 orbites/jour) ; NASA « ISS 20 infographic » ; BBC Future « 25 years of the ISS in numbers » (23/12/2025, 280+ visiteurs).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38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6FF"/>
                </a:solidFill>
                <a:latin typeface="Calibri"/>
              </a:rPr>
              <a:t>ENJEU POLITIQUE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Une coopération internationale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5 agences et 15 pays : chaque partenaire reste propriétaire des modules qu'il a fournis et les fait fonctionner ensemble 24 h/24.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Coût de construction estimé par le CNES à environ 150 milliards d'euros — le plus cher des objets jamais construits par l'humanité (BBC).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2 500 m² de panneaux solaires fournissent l'électricité ; l'assemblage a duré 13 ans, de 1998 à 2011.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Record d'occupation simultanée : 13 personnes en 2009 lors du relais d'équipage.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La station survole environ 90 % de la population mondiale : elle est visible à l'œil nu au crépuscule.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B4D8"/>
                </a:solidFill>
                <a:latin typeface="Calibri"/>
              </a:rPr>
              <a:t>Sources : CNES « Les stations orbitales » (150 Md€, 2 500 m² de panneaux, 13 ans d'assemblage) ; Space.com (15 pays, survol de 90 % de la population) ; NSSA (record de 13 personnes, 2009) ; BBC Future.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38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6FF"/>
                </a:solidFill>
                <a:latin typeface="Calibri"/>
              </a:rPr>
              <a:t>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Sa fin de vie et « l'après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La station perd environ 2 km d'altitude par mois (frottement résiduel) et doit être ré-accélérée régulièrement.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Plan NASA (rapport GAO-26-107805, avril 2026) : retrait de service fin 2030, puis désorbitation contrôlée vers fin 2030 / début 2031.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Le véhicule de désorbitation (US Deorbit Vehicle, contrat SpaceX de 843 M$) poussera la station vers une rentrée au-dessus d'une zone océanique inhabitée.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Après l'ISS : des stations spatiales commerciales doivent prendre le relais, la NASA devenant simple cliente (6 entreprises accompagnées).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6E4FF"/>
                </a:solidFill>
                <a:latin typeface="Calibri"/>
              </a:rPr>
              <a:t>▪  La NASA estime que la station pourrait techniquement tenir jusqu'à la fin des années 2030 si nécessaire.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B4D8"/>
                </a:solidFill>
                <a:latin typeface="Calibri"/>
              </a:rPr>
              <a:t>Sources : Wikipédia (décroissance orbitale ~2 km/mois) ; GAO-26-107805 (retrait 2030, rentrée fin 2030-début 2031) ; Spaceflight Now (18/07/2024, contrat SpaceX 843 M$) ; blog GAO.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2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38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6FF"/>
                </a:solidFill>
                <a:latin typeface="Calibri"/>
              </a:rPr>
              <a:t>RÉFÉRENCES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Sources consultées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6E4FF"/>
                </a:solidFill>
                <a:latin typeface="Calibri"/>
              </a:rPr>
              <a:t>▪  NASA — « ISS 20 infographic » (vitesse 28 000 km/h, 16 orbites/16 levers de soleil, occupation depuis nov. 2000).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6E4FF"/>
                </a:solidFill>
                <a:latin typeface="Calibri"/>
              </a:rPr>
              <a:t>▪  Agence spatiale canadienne (ASC) — « FAQ : Station spatiale internationale » (altitude, équipage, 16 orbites/jour).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6E4FF"/>
                </a:solidFill>
                <a:latin typeface="Calibri"/>
              </a:rPr>
              <a:t>▪  Wikipédia — « Station spatiale internationale » (masse 450 t, 109 × 73 m, 1 005 m³, 7,67 km/s, période 92,9 min, 51,64°).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6E4FF"/>
                </a:solidFill>
                <a:latin typeface="Calibri"/>
              </a:rPr>
              <a:t>▪  CNES — « Les stations orbitales » (≈150 Md€, 2 500 m² de panneaux solaires, assemblage 1998-2011).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6E4FF"/>
                </a:solidFill>
                <a:latin typeface="Calibri"/>
              </a:rPr>
              <a:t>▪  Space.com — « Everything you need to know about the ISS » (15 pays, survol de ~90 % de la population).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6E4FF"/>
                </a:solidFill>
                <a:latin typeface="Calibri"/>
              </a:rPr>
              <a:t>▪  BBC Future — « 25 years of the ISS in numbers » (23/12/2025 : plus de 280 visiteurs depuis 2000).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6E4FF"/>
                </a:solidFill>
                <a:latin typeface="Calibri"/>
              </a:rPr>
              <a:t>▪  GAO-26-107805 (avril 2026) et Spaceflight Now (18/07/2024) — retrait 2030, US Deorbit Vehicle SpaceX (843 M$).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