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5C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CD67B"/>
                </a:solidFill>
                <a:latin typeface="Calibri"/>
              </a:rPr>
              <a:t>SCIENCES DU VIVANT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La photosynthèse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DDF2E2"/>
                </a:solidFill>
                <a:latin typeface="Calibri"/>
              </a:rPr>
              <a:t>Comment les plantes transforment la lumière en matière vivante</a:t>
            </a:r>
          </a:p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DDF2E2"/>
                </a:solidFill>
                <a:latin typeface="Calibri"/>
              </a:rPr>
              <a:t>et fabriquent le dioxygène que nous respirons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CC2A8"/>
                </a:solidFill>
                <a:latin typeface="Calibri"/>
              </a:rPr>
              <a:t>Sources vérifiées citées dans chaque diapo · Wikipédia · ENS Lyon · PMC · NOAA · Britannica · NASA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3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5C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D67B"/>
                </a:solidFill>
                <a:latin typeface="Calibri"/>
              </a:rPr>
              <a:t>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Qu'est-ce que la photosynthèse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DF2E2"/>
                </a:solidFill>
                <a:latin typeface="Calibri"/>
              </a:rPr>
              <a:t>▪  Du grec « photo » (lumière) et « synthèse » (assemblage) : fabriquer de la matière organique avec la lumière.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DF2E2"/>
                </a:solidFill>
                <a:latin typeface="Calibri"/>
              </a:rPr>
              <a:t>▪  Les organismes autotrophes — plantes, algues, cyanobactéries — captent l'énergie lumineuse et la convertissent en énergie chimique (glucides).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DF2E2"/>
                </a:solidFill>
                <a:latin typeface="Calibri"/>
              </a:rPr>
              <a:t>▪  C'est la base de presque toute la chaîne alimentaire terrestre et la source du dioxygène atmosphérique.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343400"/>
            <a:ext cx="9601200" cy="1234440"/>
          </a:xfrm>
          <a:prstGeom prst="rect">
            <a:avLst/>
          </a:prstGeom>
          <a:solidFill>
            <a:srgbClr val="18422C"/>
          </a:solidFill>
          <a:ln w="15875">
            <a:solidFill>
              <a:srgbClr val="5CD6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4526280"/>
            <a:ext cx="9235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5CD67B"/>
                </a:solidFill>
                <a:latin typeface="Calibri"/>
              </a:rPr>
              <a:t>Équation bilan simplifiée :</a:t>
            </a:r>
          </a:p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C14D"/>
                </a:solidFill>
                <a:latin typeface="Calibri"/>
              </a:rPr>
              <a:t>6 CO₂ + 6 H₂O  +  lumière  →  C₆H₁₂O₆ (glucose)  +  6 O₂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C2A8"/>
                </a:solidFill>
                <a:latin typeface="Calibri"/>
              </a:rPr>
              <a:t>Sources : Wikipédia « Photosynthèse » (définition, équation) ; Planet-Terre ENS- Lyon (bilan de masse : 44 g de CO₂ → 12 g de C fixé + 32 g d'O₂) ; Encyclopédie de l'environnement « La biosphère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3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5C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D67B"/>
                </a:solidFill>
                <a:latin typeface="Calibri"/>
              </a:rPr>
              <a:t>MÉCANISME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Un processus en deux temps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49240" cy="3977639"/>
          </a:xfrm>
          <a:prstGeom prst="rect">
            <a:avLst/>
          </a:prstGeom>
          <a:solidFill>
            <a:srgbClr val="18422C"/>
          </a:solidFill>
          <a:ln w="15875">
            <a:solidFill>
              <a:srgbClr val="5CD6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CD67B"/>
                </a:solidFill>
                <a:latin typeface="Calibri"/>
              </a:rPr>
              <a:t>1. Phase photochimique (« claire »)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892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DF2E2"/>
                </a:solidFill>
                <a:latin typeface="Calibri"/>
              </a:rPr>
              <a:t>▪  Dans la membrane des thylakoïdes (chloroplaste).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DF2E2"/>
                </a:solidFill>
                <a:latin typeface="Calibri"/>
              </a:rPr>
              <a:t>▪  Les photons excitent la chlorophylle ; l'énergie sert à la photolyse de l'eau : H₂O → O₂ + électrons + protons.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DF2E2"/>
                </a:solidFill>
                <a:latin typeface="Calibri"/>
              </a:rPr>
              <a:t>▪  Résultat : deux « batteries » chimiques, l'ATP et le NADPH — et le dioxygène comme sous-produit.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91640"/>
            <a:ext cx="5349240" cy="3977639"/>
          </a:xfrm>
          <a:prstGeom prst="rect">
            <a:avLst/>
          </a:prstGeom>
          <a:solidFill>
            <a:srgbClr val="18422C"/>
          </a:solidFill>
          <a:ln w="15875">
            <a:solidFill>
              <a:srgbClr val="FFC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C14D"/>
                </a:solidFill>
                <a:latin typeface="Calibri"/>
              </a:rPr>
              <a:t>2. Cycle de Calvin (« sombre »)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892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DF2E2"/>
                </a:solidFill>
                <a:latin typeface="Calibri"/>
              </a:rPr>
              <a:t>▪  Dans le stroma du chloroplaste — indépendant de la lumière, mais il en consomme le fruit.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DF2E2"/>
                </a:solidFill>
                <a:latin typeface="Calibri"/>
              </a:rPr>
              <a:t>▪  L'ATP et le NADPH dépensés permettent de fixer le CO₂ sur du RuBP et de bâtir du glucose.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DF2E2"/>
                </a:solidFill>
                <a:latin typeface="Calibri"/>
              </a:rPr>
              <a:t>▪  Le glucose est ensuite polymérisé en amidon (réserve) et cellulose (parois des cellules).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C2A8"/>
                </a:solidFill>
                <a:latin typeface="Calibri"/>
              </a:rPr>
              <a:t>Sources : Wikipédia « Photosynthèse » (phase photochimique / cycle de Calvin) ; PMC « Photosynthesis » (PMC5264509) ; S. Merchant et al., revue PMC7489092 (Calvin-Benson, ATP/NADPH).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3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5C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D67B"/>
                </a:solidFill>
                <a:latin typeface="Calibri"/>
              </a:rPr>
              <a:t>AU CŒUR DE LA CELLULE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Le chloroplaste et la chlorophylle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DF2E2"/>
                </a:solidFill>
                <a:latin typeface="Calibri"/>
              </a:rPr>
              <a:t>▪  Les feuilles vertes abritent des chloroplastes : organites à double membrane, capteurs de lumière de la cellule.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DF2E2"/>
                </a:solidFill>
                <a:latin typeface="Calibri"/>
              </a:rPr>
              <a:t>▪  Leurs pigments — chlorophylles et caroténoïdes — absorbent surtout le bleu et le rouge, et réfléchissent le vert : d'où la couleur des feuilles.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DF2E2"/>
                </a:solidFill>
                <a:latin typeface="Calibri"/>
              </a:rPr>
              <a:t>▪  Une unité photosynthétique implique environ 600 molécules de chlorophylle (travaux d'Emerson et Arnold, années 1930-1940).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DF2E2"/>
                </a:solidFill>
                <a:latin typeface="Calibri"/>
              </a:rPr>
              <a:t>▪  Au moins 8 photons sont nécessaires pour réduire une molécule de CO₂ — l'exigence quantique de la photosynthèse.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DDF2E2"/>
                </a:solidFill>
                <a:latin typeface="Calibri"/>
              </a:rPr>
              <a:t>▪  L'essentiel de la masse sèche d'un arbre ne vient pas du sol, mais du CO₂ de l'air fixé par la photosynthèse.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C2A8"/>
                </a:solidFill>
                <a:latin typeface="Calibri"/>
              </a:rPr>
              <a:t>Sources : longuevergne.free.fr « La photosynthèse et la chlorophylle » (8 photons/CO₂, unité photosynthétique 600 chlorophylles, Emerson &amp; Arnold) ; Wikipédia « Photosynthèse » (pigments, chloroplastes) ; Planet-Terre ENS-Lyon (masse sèche et CO₂).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3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5C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D67B"/>
                </a:solidFill>
                <a:latin typeface="Calibri"/>
              </a:rPr>
              <a:t>EN UN COUP D'ŒIL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La photosynthèse en chiffres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611880" cy="1965960"/>
          </a:xfrm>
          <a:prstGeom prst="rect">
            <a:avLst/>
          </a:prstGeom>
          <a:solidFill>
            <a:srgbClr val="18422C"/>
          </a:solidFill>
          <a:ln w="15875">
            <a:solidFill>
              <a:srgbClr val="5CD6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901952"/>
            <a:ext cx="3429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≈ 200 Gt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DDF2E2"/>
                </a:solidFill>
                <a:latin typeface="Calibri"/>
              </a:rPr>
              <a:t>de CO₂ converties en composés organiques chaque année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6552" y="1645920"/>
            <a:ext cx="3611880" cy="1965960"/>
          </a:xfrm>
          <a:prstGeom prst="rect">
            <a:avLst/>
          </a:prstGeom>
          <a:solidFill>
            <a:srgbClr val="18422C"/>
          </a:solidFill>
          <a:ln w="15875">
            <a:solidFill>
              <a:srgbClr val="5CD6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901952"/>
            <a:ext cx="3429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≈ 140 Gt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69748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DDF2E2"/>
                </a:solidFill>
                <a:latin typeface="Calibri"/>
              </a:rPr>
              <a:t>de dioxygène rejetées dans l'atmosphère par 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3" y="1645920"/>
            <a:ext cx="3611880" cy="1965960"/>
          </a:xfrm>
          <a:prstGeom prst="rect">
            <a:avLst/>
          </a:prstGeom>
          <a:solidFill>
            <a:srgbClr val="18422C"/>
          </a:solidFill>
          <a:ln w="15875">
            <a:solidFill>
              <a:srgbClr val="5CD6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3" y="1901952"/>
            <a:ext cx="3429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≈ 50 %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269748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DDF2E2"/>
                </a:solidFill>
                <a:latin typeface="Calibri"/>
              </a:rPr>
              <a:t>de l'O₂ terrestre produit par l'océan (phytoplancton)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31920"/>
            <a:ext cx="3611880" cy="1965960"/>
          </a:xfrm>
          <a:prstGeom prst="rect">
            <a:avLst/>
          </a:prstGeom>
          <a:solidFill>
            <a:srgbClr val="18422C"/>
          </a:solidFill>
          <a:ln w="15875">
            <a:solidFill>
              <a:srgbClr val="5CD6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4187952"/>
            <a:ext cx="3429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jusqu'à 20 %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83479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DDF2E2"/>
                </a:solidFill>
                <a:latin typeface="Calibri"/>
              </a:rPr>
              <a:t>de l'O₂ de la biosphère dû au seul Prochlorococcus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3931920"/>
            <a:ext cx="3611880" cy="1965960"/>
          </a:xfrm>
          <a:prstGeom prst="rect">
            <a:avLst/>
          </a:prstGeom>
          <a:solidFill>
            <a:srgbClr val="18422C"/>
          </a:solidFill>
          <a:ln w="15875">
            <a:solidFill>
              <a:srgbClr val="5CD6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4187952"/>
            <a:ext cx="3429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4983479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DDF2E2"/>
                </a:solidFill>
                <a:latin typeface="Calibri"/>
              </a:rPr>
              <a:t>photons minimum par molécule de CO₂ réduite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3" y="3931920"/>
            <a:ext cx="3611880" cy="1965960"/>
          </a:xfrm>
          <a:prstGeom prst="rect">
            <a:avLst/>
          </a:prstGeom>
          <a:solidFill>
            <a:srgbClr val="18422C"/>
          </a:solidFill>
          <a:ln w="15875">
            <a:solidFill>
              <a:srgbClr val="5CD6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3" y="4187952"/>
            <a:ext cx="3429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C14D"/>
                </a:solidFill>
                <a:latin typeface="Calibri"/>
              </a:rPr>
              <a:t>≈ 30 %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4983479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DDF2E2"/>
                </a:solidFill>
                <a:latin typeface="Calibri"/>
              </a:rPr>
              <a:t>rendement maximal de la conversion lumineuse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C2A8"/>
                </a:solidFill>
                <a:latin typeface="Calibri"/>
              </a:rPr>
              <a:t>Sources : PMC « Photosynthesis » (PMC5264509 : ≈200 Gt CO₂/an, ≈140 Gt O₂/an) ; NOAA Ocean Service (≈50 % de l'O₂ vient de l'océan, Prochlorococcus jusqu'à 20 %) ; longuevergne.free.fr (8 photons, rendement ~30 %).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3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5C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D67B"/>
                </a:solidFill>
                <a:latin typeface="Calibri"/>
              </a:rPr>
              <a:t>REPÈRES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Trois siècles de découvertes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377440"/>
            <a:ext cx="54864" cy="3566160"/>
          </a:xfrm>
          <a:prstGeom prst="rect">
            <a:avLst/>
          </a:prstGeom>
          <a:solidFill>
            <a:srgbClr val="5C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" y="1591056"/>
            <a:ext cx="274320" cy="27432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481328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CD67B"/>
                </a:solidFill>
                <a:latin typeface="Calibri"/>
              </a:rPr>
              <a:t>1771-1777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481328"/>
            <a:ext cx="8366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DDF2E2"/>
                </a:solidFill>
                <a:latin typeface="Calibri"/>
              </a:rPr>
              <a:t>Joseph Priestley montre qu'une plante « répare » l'air vicié par une bougie (rejet d'oxygène).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377440"/>
            <a:ext cx="274320" cy="27432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267712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CD67B"/>
                </a:solidFill>
                <a:latin typeface="Calibri"/>
              </a:rPr>
              <a:t>1779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67712"/>
            <a:ext cx="8366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DDF2E2"/>
                </a:solidFill>
                <a:latin typeface="Calibri"/>
              </a:rPr>
              <a:t>Jan Ingenhousz établit le rôle essentiel de la lumière et des parties vertes de la plante.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163824"/>
            <a:ext cx="274320" cy="27432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054096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CD67B"/>
                </a:solidFill>
                <a:latin typeface="Calibri"/>
              </a:rPr>
              <a:t>1782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054096"/>
            <a:ext cx="8366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DDF2E2"/>
                </a:solidFill>
                <a:latin typeface="Calibri"/>
              </a:rPr>
              <a:t>Jean Senebier montre que les plantes consomment le dioxyde de carbone pour croître.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50208"/>
            <a:ext cx="274320" cy="27432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84048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CD67B"/>
                </a:solidFill>
                <a:latin typeface="Calibri"/>
              </a:rPr>
              <a:t>1804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840480"/>
            <a:ext cx="8366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DDF2E2"/>
                </a:solidFill>
                <a:latin typeface="Calibri"/>
              </a:rPr>
              <a:t>Nicolas de Saussure prouve que l'eau est un réactif : la plante gagne en masse par absorption de CO₂ et d'eau.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736592"/>
            <a:ext cx="274320" cy="27432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626864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CD67B"/>
                </a:solidFill>
                <a:latin typeface="Calibri"/>
              </a:rPr>
              <a:t>1862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626864"/>
            <a:ext cx="8366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DDF2E2"/>
                </a:solidFill>
                <a:latin typeface="Calibri"/>
              </a:rPr>
              <a:t>Julius von Sachs montre la synthèse de l'amidon dans les feuilles éclairées.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522976"/>
            <a:ext cx="274320" cy="27432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5413248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CD67B"/>
                </a:solidFill>
                <a:latin typeface="Calibri"/>
              </a:rPr>
              <a:t>1961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413248"/>
            <a:ext cx="8366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DDF2E2"/>
                </a:solidFill>
                <a:latin typeface="Calibri"/>
              </a:rPr>
              <a:t>Melvin Calvin reçoit le prix Nobel de chimie pour le cycle de fixation du carbone (cycle de Calvin).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C2A8"/>
                </a:solidFill>
                <a:latin typeface="Calibri"/>
              </a:rPr>
              <a:t>Sources : Britannica « History of the study of photosynthesis » (Priestley 1771, Ingenhousz 1779, de Saussure 1804) ; Wikipédia « Photosynthèse » (Senebier, Sachs) ; PMC7489092 (Calvin, Nobel 1961, Benson-Bassham).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3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5C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D67B"/>
                </a:solidFill>
                <a:latin typeface="Calibri"/>
              </a:rPr>
              <a:t>ÉCHELLE PLANÉTAIRE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L'oxygène d'une planète : l'événement de la Grande Oxydation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DDF2E2"/>
                </a:solidFill>
                <a:latin typeface="Calibri"/>
              </a:rPr>
              <a:t>▪  Il y a ≈ 2,7 milliards d'années, les cyanobactéries inventent la photosynthèse oxygénique : l'eau devient « carburant », l'O₂ est un déchet.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DDF2E2"/>
                </a:solidFill>
                <a:latin typeface="Calibri"/>
              </a:rPr>
              <a:t>▪  Grande Oxydation (≈ 2,4 milliards d'années) : l'oxygène s'accumule dans l'atmosphère et atteint ≈ 1 % du niveau actuel en 600 millions d'années.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DDF2E2"/>
                </a:solidFill>
                <a:latin typeface="Calibri"/>
              </a:rPr>
              <a:t>▪  Cet événement a été une extinction massive pour la vie anaérobie, mais a permis le métabolisme aérobie et la vie multicellulaire.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DDF2E2"/>
                </a:solidFill>
                <a:latin typeface="Calibri"/>
              </a:rPr>
              <a:t>▪  Aujourd'hui, la pompe biologique et l'enfouissement géologique du carbone maintiennent l'équilibre O₂/CO₂ hérité de ce processus.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DDF2E2"/>
                </a:solidFill>
                <a:latin typeface="Calibri"/>
              </a:rPr>
              <a:t>▪  Le phytoplancton océanique assure à lui seul presque la moitié de la production primaire mondiale.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C2A8"/>
                </a:solidFill>
                <a:latin typeface="Calibri"/>
              </a:rPr>
              <a:t>Sources : NASA Astrobiology « Revisiting Earth's Oxygenation 2.4 Billion Years Ago » ; Britannica « Evolution of the atmosphere » (GOE ≈ 2,4 Ga, ≈ 1 % des niveaux actuels sur 600 Ma) ; ASM « The Great Oxidation Event » (cyanobactéries ≈ 2,7 Ga) ; NASA My NASA Data (phytoplancton ≈ 50 % de la production primaire).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3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45720"/>
          </a:xfrm>
          <a:prstGeom prst="rect">
            <a:avLst/>
          </a:prstGeom>
          <a:solidFill>
            <a:srgbClr val="5C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D67B"/>
                </a:solidFill>
                <a:latin typeface="Calibri"/>
              </a:rPr>
              <a:t>RÉFÉRENCES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Sources consultées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DF2E2"/>
                </a:solidFill>
                <a:latin typeface="Calibri"/>
              </a:rPr>
              <a:t>▪  Wikipédia — « Photosynthèse » (définition, équation-bilan, phase photochimique / cycle de Calvin, pigments ; Hales 1727, Priestley, Ingenhousz 1779, Senebier, Sachs 1862).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DF2E2"/>
                </a:solidFill>
                <a:latin typeface="Calibri"/>
              </a:rPr>
              <a:t>▪  Planet-Terre ENS-Lyon — « L'Amazonie, le poumon de la Terre… » (bilan de masse : 44 g CO₂ → 12 g C + 32 g O₂).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DF2E2"/>
                </a:solidFill>
                <a:latin typeface="Calibri"/>
              </a:rPr>
              <a:t>▪  PMC — « Photosynthesis » (PMC5264509) : ≈200 Gt de CO₂ et ≈140 Gt de O₂ par an.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DF2E2"/>
                </a:solidFill>
                <a:latin typeface="Calibri"/>
              </a:rPr>
              <a:t>▪  PMC7489092 — « Photosynthesis: basics, history and modelling » (Priestley, Ingen-Housz, Senebier, Sachs, Nobel de Melvin Calvin 1961).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DF2E2"/>
                </a:solidFill>
                <a:latin typeface="Calibri"/>
              </a:rPr>
              <a:t>▪  NOAA Ocean Service — « How much oxygen comes from the ocean? » (≈50 % de l'O₂ terrestre, Prochlorococcus jusqu'à 20 %).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DF2E2"/>
                </a:solidFill>
                <a:latin typeface="Calibri"/>
              </a:rPr>
              <a:t>▪  Britannica — « History of the study of photosynthesis » et « Evolution of the atmosphere » (Grande Oxydation ≈ 2,4 Ga).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DDF2E2"/>
                </a:solidFill>
                <a:latin typeface="Calibri"/>
              </a:rPr>
              <a:t>▪  NASA Astrobiology (2,4 Ga) ; ASM « The Great Oxidation Event » (cyanobactéries ≈ 2,7 Ga) ; NASA My NASA Data (phytoplancton).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